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07" r:id="rId6"/>
    <p:sldId id="321" r:id="rId7"/>
    <p:sldId id="308" r:id="rId8"/>
    <p:sldId id="322" r:id="rId9"/>
    <p:sldId id="319" r:id="rId10"/>
    <p:sldId id="320" r:id="rId11"/>
    <p:sldId id="310" r:id="rId12"/>
    <p:sldId id="311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A47"/>
    <a:srgbClr val="636A58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5405" autoAdjust="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3/15/2025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1"/>
            <a:ext cx="10360152" cy="1130710"/>
          </a:xfrm>
        </p:spPr>
        <p:txBody>
          <a:bodyPr anchor="ctr"/>
          <a:lstStyle/>
          <a:p>
            <a:r>
              <a:rPr lang="en-US" dirty="0"/>
              <a:t>ZOMATO DATA 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18DCF-79F8-AABD-C092-A87C8ADC37C5}"/>
              </a:ext>
            </a:extLst>
          </p:cNvPr>
          <p:cNvSpPr txBox="1"/>
          <p:nvPr/>
        </p:nvSpPr>
        <p:spPr>
          <a:xfrm>
            <a:off x="3180735" y="2571135"/>
            <a:ext cx="6528620" cy="3893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9EC59-28A6-A820-CE94-85223EF0FB29}"/>
              </a:ext>
            </a:extLst>
          </p:cNvPr>
          <p:cNvSpPr txBox="1"/>
          <p:nvPr/>
        </p:nvSpPr>
        <p:spPr>
          <a:xfrm>
            <a:off x="3028335" y="2266335"/>
            <a:ext cx="6528620" cy="3893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CE3ED-9450-4A65-DFC2-408AD59EEA31}"/>
              </a:ext>
            </a:extLst>
          </p:cNvPr>
          <p:cNvSpPr txBox="1"/>
          <p:nvPr/>
        </p:nvSpPr>
        <p:spPr>
          <a:xfrm>
            <a:off x="2635045" y="1906013"/>
            <a:ext cx="6681020" cy="4045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A68BE-E549-1826-70D2-2664BA2519B7}"/>
              </a:ext>
            </a:extLst>
          </p:cNvPr>
          <p:cNvSpPr txBox="1"/>
          <p:nvPr/>
        </p:nvSpPr>
        <p:spPr>
          <a:xfrm>
            <a:off x="3106993" y="2266335"/>
            <a:ext cx="62090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GROUP 2:</a:t>
            </a:r>
          </a:p>
          <a:p>
            <a:endParaRPr lang="en-US" dirty="0"/>
          </a:p>
          <a:p>
            <a:r>
              <a:rPr lang="en-US" dirty="0">
                <a:latin typeface="Bahnschrift" panose="020B0502040204020203" pitchFamily="34" charset="0"/>
              </a:rPr>
              <a:t>M V Yatish Sarma</a:t>
            </a:r>
          </a:p>
          <a:p>
            <a:r>
              <a:rPr lang="en-US" dirty="0">
                <a:latin typeface="Bahnschrift" panose="020B0502040204020203" pitchFamily="34" charset="0"/>
              </a:rPr>
              <a:t>B Srikanth</a:t>
            </a:r>
          </a:p>
          <a:p>
            <a:r>
              <a:rPr lang="en-US" dirty="0">
                <a:latin typeface="Bahnschrift" panose="020B0502040204020203" pitchFamily="34" charset="0"/>
              </a:rPr>
              <a:t>Abinash Lenka</a:t>
            </a:r>
          </a:p>
          <a:p>
            <a:r>
              <a:rPr lang="en-US" dirty="0">
                <a:latin typeface="Bahnschrift" panose="020B0502040204020203" pitchFamily="34" charset="0"/>
              </a:rPr>
              <a:t>Anuradha K R</a:t>
            </a:r>
          </a:p>
          <a:p>
            <a:r>
              <a:rPr lang="en-US" dirty="0">
                <a:latin typeface="Bahnschrift" panose="020B0502040204020203" pitchFamily="34" charset="0"/>
              </a:rPr>
              <a:t>Nivetha M</a:t>
            </a:r>
          </a:p>
          <a:p>
            <a:r>
              <a:rPr lang="en-US" dirty="0" err="1">
                <a:latin typeface="Bahnschrift" panose="020B0502040204020203" pitchFamily="34" charset="0"/>
              </a:rPr>
              <a:t>Ganthula</a:t>
            </a:r>
            <a:r>
              <a:rPr lang="en-US" dirty="0">
                <a:latin typeface="Bahnschrift" panose="020B0502040204020203" pitchFamily="34" charset="0"/>
              </a:rPr>
              <a:t> Usha Rani</a:t>
            </a:r>
          </a:p>
          <a:p>
            <a:r>
              <a:rPr lang="en-US" dirty="0" err="1">
                <a:latin typeface="Bahnschrift" panose="020B0502040204020203" pitchFamily="34" charset="0"/>
              </a:rPr>
              <a:t>Samistha</a:t>
            </a:r>
            <a:r>
              <a:rPr lang="en-US" dirty="0">
                <a:latin typeface="Bahnschrift" panose="020B0502040204020203" pitchFamily="34" charset="0"/>
              </a:rPr>
              <a:t> rath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02" y="0"/>
            <a:ext cx="2530299" cy="3556931"/>
          </a:xfrm>
        </p:spPr>
        <p:txBody>
          <a:bodyPr/>
          <a:lstStyle/>
          <a:p>
            <a:r>
              <a:rPr lang="en-US" sz="4800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109661"/>
              </p:ext>
            </p:extLst>
          </p:nvPr>
        </p:nvGraphicFramePr>
        <p:xfrm>
          <a:off x="6869113" y="1143000"/>
          <a:ext cx="4190999" cy="3973830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30829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211822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2400" b="0" dirty="0">
                          <a:latin typeface="+mj-lt"/>
                        </a:rPr>
                        <a:t>GOAL OF THE PROJECT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80534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2400" b="0" dirty="0">
                          <a:latin typeface="+mj-lt"/>
                        </a:rPr>
                        <a:t>DASHBOARD SCREEENSHORT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854838"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RECOMMENDATION &amp; CHALLENGES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CONCLUSION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FA8B618-6D23-21C5-39AF-ED13C22E1051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5B09-82DC-6834-3D78-82765A01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63" y="681789"/>
            <a:ext cx="6009652" cy="5871411"/>
          </a:xfrm>
        </p:spPr>
        <p:txBody>
          <a:bodyPr/>
          <a:lstStyle/>
          <a:p>
            <a:r>
              <a:rPr lang="en-US" dirty="0">
                <a:solidFill>
                  <a:srgbClr val="505A47"/>
                </a:solidFill>
              </a:rPr>
              <a:t>INTRODUCTION:</a:t>
            </a:r>
            <a:br>
              <a:rPr lang="en-US" dirty="0"/>
            </a:br>
            <a:br>
              <a:rPr lang="en-US" dirty="0"/>
            </a:br>
            <a:br>
              <a:rPr lang="en-US" sz="2000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1316F-FFD2-2C5A-2F79-18B13FBD0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821" y="681789"/>
            <a:ext cx="5430253" cy="587141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Tools used for analyzation and visualization</a:t>
            </a:r>
            <a:endParaRPr lang="en-IN" sz="2000" dirty="0">
              <a:latin typeface="Bahnschrift Light Semi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C6E5C-4264-C1B1-90E6-DDA500C1005E}"/>
              </a:ext>
            </a:extLst>
          </p:cNvPr>
          <p:cNvSpPr txBox="1"/>
          <p:nvPr/>
        </p:nvSpPr>
        <p:spPr>
          <a:xfrm>
            <a:off x="9425693" y="1884946"/>
            <a:ext cx="1042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EXCEL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16B33-36CB-624A-C8B0-2C0546D540BB}"/>
              </a:ext>
            </a:extLst>
          </p:cNvPr>
          <p:cNvSpPr txBox="1"/>
          <p:nvPr/>
        </p:nvSpPr>
        <p:spPr>
          <a:xfrm>
            <a:off x="9336984" y="3131408"/>
            <a:ext cx="149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POWER BI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AC2F1-5499-8897-924B-F257B45C72E4}"/>
              </a:ext>
            </a:extLst>
          </p:cNvPr>
          <p:cNvSpPr txBox="1"/>
          <p:nvPr/>
        </p:nvSpPr>
        <p:spPr>
          <a:xfrm>
            <a:off x="9416238" y="4343151"/>
            <a:ext cx="141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</a:t>
            </a:r>
            <a:endParaRPr lang="en-IN" b="1" dirty="0"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00C4E-FA74-8152-921B-499C4905F760}"/>
              </a:ext>
            </a:extLst>
          </p:cNvPr>
          <p:cNvSpPr txBox="1"/>
          <p:nvPr/>
        </p:nvSpPr>
        <p:spPr>
          <a:xfrm>
            <a:off x="9559680" y="5656305"/>
            <a:ext cx="149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MYSQL</a:t>
            </a:r>
            <a:endParaRPr lang="en-IN" b="1" dirty="0">
              <a:latin typeface="Arial Black" panose="020B0A040201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92B3D8-B2A9-D0AE-9C78-993823014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469" y="1469423"/>
            <a:ext cx="1610798" cy="1200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B406E65-8485-BEBC-3C6F-DF4732451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718" y="2796911"/>
            <a:ext cx="2265229" cy="113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05921DA-6F6E-74A9-6135-D58DC0C18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286" y="4054738"/>
            <a:ext cx="1498981" cy="94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DD3EAA28-5666-5DC6-FCE4-744C35880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774" y="5297921"/>
            <a:ext cx="1483493" cy="108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3">
            <a:extLst>
              <a:ext uri="{FF2B5EF4-FFF2-40B4-BE49-F238E27FC236}">
                <a16:creationId xmlns:a16="http://schemas.microsoft.com/office/drawing/2014/main" id="{37CBADA2-B5C8-6324-CC17-4FCA74D1C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63" y="3316074"/>
            <a:ext cx="57553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Zomato is a global food delivery and restaurant discovery platform. It started as an online restaurant directory and has since evolved into a leading food tech company. Currently, Zomato operates in 24 countries and serves millions of customers worldwide.</a:t>
            </a:r>
          </a:p>
        </p:txBody>
      </p:sp>
    </p:spTree>
    <p:extLst>
      <p:ext uri="{BB962C8B-B14F-4D97-AF65-F5344CB8AC3E}">
        <p14:creationId xmlns:p14="http://schemas.microsoft.com/office/powerpoint/2010/main" val="273714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74" y="315589"/>
            <a:ext cx="5641848" cy="1869260"/>
          </a:xfrm>
        </p:spPr>
        <p:txBody>
          <a:bodyPr/>
          <a:lstStyle/>
          <a:p>
            <a:pPr algn="ctr"/>
            <a:r>
              <a:rPr lang="en-US" dirty="0"/>
              <a:t>GOAL OF THE PROJECT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D066B90-A2F9-8A56-86BB-C1E2758B6F7B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07092F38-708E-EE08-BF72-2CFB3270C3D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805" r="25805"/>
          <a:stretch>
            <a:fillRect/>
          </a:stretch>
        </p:blipFill>
        <p:spPr>
          <a:xfrm>
            <a:off x="7521677" y="82298"/>
            <a:ext cx="4588250" cy="6558034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CCF6187-0983-8160-F126-A6ACE078D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90" y="2315578"/>
            <a:ext cx="6505782" cy="283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Objective:</a:t>
            </a:r>
          </a:p>
          <a:p>
            <a:pPr marL="0" marR="0" lvl="0" indent="0" algn="l" defTabSz="914400" rtl="0" eaLnBrk="0" fontAlgn="base" latinLnBrk="0" hangingPunct="0">
              <a:spcBef>
                <a:spcPts val="25"/>
              </a:spcBef>
              <a:spcAft>
                <a:spcPts val="25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comprehensive data model for restaurant analytics, enabling insights into customer preferences and business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KPIs: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Total number of restaurants.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Revenue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Pricing segmentation (buckets).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Delivery vs. dine-in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Customer behavior insights.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8228B3-21AA-58F4-E123-C7722F8D7FBD}"/>
              </a:ext>
            </a:extLst>
          </p:cNvPr>
          <p:cNvSpPr txBox="1"/>
          <p:nvPr/>
        </p:nvSpPr>
        <p:spPr>
          <a:xfrm>
            <a:off x="-746621" y="12061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                          </a:t>
            </a:r>
            <a:r>
              <a:rPr lang="en-US" sz="2800" dirty="0">
                <a:latin typeface="Algerian" panose="04020705040A02060702" pitchFamily="82" charset="0"/>
              </a:rPr>
              <a:t>EXCEL DASHBOARD</a:t>
            </a:r>
            <a:endParaRPr lang="en-IN" sz="2800" dirty="0">
              <a:latin typeface="Algerian" panose="04020705040A02060702" pitchFamily="8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C2FC648-D667-F2D6-CAD8-37C5D7DDB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9999"/>
            <a:ext cx="12191999" cy="603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05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3A070B-293C-66F7-CE65-33658E79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3A609-73CC-2F6F-BA82-7439EA066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158"/>
            <a:ext cx="12192000" cy="62808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BC9FD1-E0A8-7D9E-D27A-8F0C006863FA}"/>
              </a:ext>
            </a:extLst>
          </p:cNvPr>
          <p:cNvSpPr txBox="1"/>
          <p:nvPr/>
        </p:nvSpPr>
        <p:spPr>
          <a:xfrm>
            <a:off x="-176169" y="-36747"/>
            <a:ext cx="12309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       </a:t>
            </a:r>
            <a:r>
              <a:rPr lang="en-US" sz="2000" dirty="0">
                <a:latin typeface="Algerian" panose="04020705040A02060702" pitchFamily="82" charset="0"/>
              </a:rPr>
              <a:t>TABLEAU</a:t>
            </a:r>
            <a:r>
              <a:rPr lang="en-US" sz="2800" dirty="0">
                <a:latin typeface="Algerian" panose="04020705040A02060702" pitchFamily="82" charset="0"/>
              </a:rPr>
              <a:t> </a:t>
            </a:r>
            <a:r>
              <a:rPr lang="en-US" sz="2000" dirty="0">
                <a:latin typeface="Algerian" panose="04020705040A02060702" pitchFamily="82" charset="0"/>
              </a:rPr>
              <a:t>DASHBOARD</a:t>
            </a:r>
            <a:endParaRPr lang="en-IN" sz="2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83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 txBox="1">
            <a:spLocks/>
          </p:cNvSpPr>
          <p:nvPr/>
        </p:nvSpPr>
        <p:spPr>
          <a:xfrm>
            <a:off x="11344359" y="5837995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2636B3-5BE5-461A-9158-517CCB1B8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30" r="10165"/>
          <a:stretch/>
        </p:blipFill>
        <p:spPr>
          <a:xfrm>
            <a:off x="0" y="500242"/>
            <a:ext cx="12192000" cy="6357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8CEFAE-7E31-05BB-CEDD-AD56A155DB5C}"/>
              </a:ext>
            </a:extLst>
          </p:cNvPr>
          <p:cNvSpPr txBox="1"/>
          <p:nvPr/>
        </p:nvSpPr>
        <p:spPr>
          <a:xfrm>
            <a:off x="-604008" y="470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                            POWER BI DASHBOARD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74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812227" cy="914400"/>
          </a:xfrm>
        </p:spPr>
        <p:txBody>
          <a:bodyPr/>
          <a:lstStyle/>
          <a:p>
            <a:r>
              <a:rPr lang="en-US" b="1" dirty="0"/>
              <a:t>RECOMMENDATIONS AND CHALLENGES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4632" y="2130164"/>
            <a:ext cx="5629012" cy="29213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b="1" dirty="0">
                <a:latin typeface="+mj-lt"/>
              </a:rPr>
              <a:t>Recommendations  :</a:t>
            </a:r>
            <a:br>
              <a:rPr lang="en-IN" b="1" dirty="0"/>
            </a:br>
            <a:endParaRPr lang="en-IN" sz="1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Improve Data Quality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Standardize input formats.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Enhance Filtering &amp; Segmentation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Enable advanced user interactions.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Predictive analytics       for restaurant success.</a:t>
            </a:r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805EB0B-CCDD-4DDA-3A10-061CBF08149D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528507" y="2088889"/>
            <a:ext cx="5192785" cy="2680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400" b="1" dirty="0">
                <a:latin typeface="+mj-lt"/>
              </a:rPr>
              <a:t>Challenges  :</a:t>
            </a:r>
            <a:br>
              <a:rPr lang="en-IN" b="1" dirty="0"/>
            </a:b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Missing or inconsistent data.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Issues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Connecting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data sources.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Optimization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Handling large datasets efficiently. 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A5D2370-0C9F-BAA9-4A54-D1EC9CC752B6}"/>
              </a:ext>
            </a:extLst>
          </p:cNvPr>
          <p:cNvSpPr txBox="1">
            <a:spLocks/>
          </p:cNvSpPr>
          <p:nvPr/>
        </p:nvSpPr>
        <p:spPr>
          <a:xfrm>
            <a:off x="11321823" y="5854179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26D8895-5298-E8F6-E077-E4C5E3CBE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6939" y="5831252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01BB8B-7DBD-CB45-2424-CDC0EE4ECB4B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637562" y="2233675"/>
            <a:ext cx="996105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insights help in understanding restaurant growth patterns.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strategies influence customer ratings and overall satisfaction.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bookings show a strong correlation with revenue generation.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findings enable decision-makers to refine strategies and enhance business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148" y="914400"/>
            <a:ext cx="6902246" cy="5029200"/>
          </a:xfrm>
        </p:spPr>
        <p:txBody>
          <a:bodyPr/>
          <a:lstStyle/>
          <a:p>
            <a:r>
              <a:rPr lang="en-US" dirty="0"/>
              <a:t>                    Thank you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B89EFFE-7185-607B-E607-0B6673A7CDDD}"/>
              </a:ext>
            </a:extLst>
          </p:cNvPr>
          <p:cNvSpPr txBox="1">
            <a:spLocks/>
          </p:cNvSpPr>
          <p:nvPr/>
        </p:nvSpPr>
        <p:spPr>
          <a:xfrm>
            <a:off x="10794775" y="5774608"/>
            <a:ext cx="1292133" cy="8958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8FB4751-880F-D840-AAA9-3A15815CC996}" type="slidenum">
              <a:rPr lang="en-US" smtClean="0"/>
              <a:pPr algn="ctr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{60E4D8E8-F3F5-4DD1-854B-A1D783DD91E7}tf11964407_win32</Template>
  <TotalTime>177</TotalTime>
  <Words>281</Words>
  <Application>Microsoft Office PowerPoint</Application>
  <PresentationFormat>Widescreen</PresentationFormat>
  <Paragraphs>65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Algerian</vt:lpstr>
      <vt:lpstr>Arial</vt:lpstr>
      <vt:lpstr>Arial Black</vt:lpstr>
      <vt:lpstr>Bahnschrift</vt:lpstr>
      <vt:lpstr>Bahnschrift Light SemiCondensed</vt:lpstr>
      <vt:lpstr>Calibri</vt:lpstr>
      <vt:lpstr>Courier New</vt:lpstr>
      <vt:lpstr>Gill Sans Nova Light</vt:lpstr>
      <vt:lpstr>Sagona Book</vt:lpstr>
      <vt:lpstr>Custom</vt:lpstr>
      <vt:lpstr>ZOMATO DATA  ANALYSIS</vt:lpstr>
      <vt:lpstr>Agenda</vt:lpstr>
      <vt:lpstr>INTRODUCTION:    </vt:lpstr>
      <vt:lpstr>GOAL OF THE PROJECT</vt:lpstr>
      <vt:lpstr>PowerPoint Presentation</vt:lpstr>
      <vt:lpstr>PowerPoint Presentation</vt:lpstr>
      <vt:lpstr>PowerPoint Presentation</vt:lpstr>
      <vt:lpstr>RECOMMENDATIONS AND CHALLENGES</vt:lpstr>
      <vt:lpstr>CONCLUSION </vt:lpstr>
      <vt:lpstr>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Anagha Sarma</dc:creator>
  <cp:lastModifiedBy>Srikanth Budarpu</cp:lastModifiedBy>
  <cp:revision>10</cp:revision>
  <dcterms:created xsi:type="dcterms:W3CDTF">2025-03-13T06:39:42Z</dcterms:created>
  <dcterms:modified xsi:type="dcterms:W3CDTF">2025-03-15T07:54:15Z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